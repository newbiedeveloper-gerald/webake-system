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&amp; SYSTEM PROGRESS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5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Web-based Sales and Inventory System for Crumbs N' Roll Bakery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3749040"/>
            <a:ext cx="10332720" cy="0"/>
          </a:xfrm>
          <a:prstGeom prst="line">
            <a:avLst/>
          </a:prstGeom>
          <a:noFill/>
          <a:ln w="25400">
            <a:solidFill>
              <a:srgbClr val="C88A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02336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Progress, Database Architecture &amp; Operational Workflows
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D9C7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/ Express / Supabase PostgreSQL  |  Frontend: Responsive HTML5/CSS3
</a:t>
            </a:r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Client: Crumbs N' Roll Wholesale &amp; Retail Bakery  |  Status: 96% Complete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Background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3E241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Crumbs N' Roll Bakery operates a wholesale and retail business: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Wholesale: Bulk bun/roll orders distributed to local retailers &amp; canteens in bundles (20 pcs/bdl).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Retail: Walk-in counter purchases sold by the piece or bundle.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model: 50% online downpayment for bulk bookings + 50% balance collected on delivery.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737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Pain Points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bottlenecks identified: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record-keeping prone to missing order logs.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discrepancies between wholesale bundles and retail pieces.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Unverified payment proofs &amp; uncollected delivery balances.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Disorganized refund process on cancellations.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 of consolidated sales reports.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737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WeBake Solution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8388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integrated web-based system delivering: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Centralized inventory tracking with automatic bundle/piece conversions.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50% downpayment verification workflow.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walk-in POS cashiering with real-time stock sync.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operations board &amp; instant PDF financial statements.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OBJECTIVES &amp; SCOPE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Scope of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Project Objectives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Automated Inventory Synchronization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raw stock at the individual piece level while allowing dynamic sales in wholesale bundles with automated conversions.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Controlled Order &amp; Payment Pipeline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strict 50% downpayment verification, proof screenshot review, and delivery balance collection.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Dual-Channel Cashiering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integration between physical Walk-in POS and online wholesale order queues into one unified stock pool.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Accurate Financial Accounting &amp; Auditing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separation of downpayments, POS cash, and collected balances with automated PDF sales reports.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Scope &amp; Stakeholders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219456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BF8F4"/>
          </a:solidFill>
          <a:ln w="6350">
            <a:solidFill>
              <a:srgbClr val="EADB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2677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&amp; Online Customers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400" y="24871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catalog, configure wholesale bundles, verify via OTP, pay 50% via GCash/Maya, track live order status, and request cancellation/refund.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92240" y="310896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BF8F4"/>
          </a:solidFill>
          <a:ln w="6350">
            <a:solidFill>
              <a:srgbClr val="EADB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1821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Retail Customers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29400" y="34015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directly over the counter with fast piece/bundle selection, instant cash change calculation, and printed receipts.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492240" y="402336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BF8F4"/>
          </a:solidFill>
          <a:ln w="6350">
            <a:solidFill>
              <a:srgbClr val="EADB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0965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Admin / Owner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43159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e-wallet screenshots, approve orders to production, collect remaining delivery balances, manage stock, and export PDF sales summaries.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492240" y="493776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BF8F4"/>
          </a:solidFill>
          <a:ln w="6350">
            <a:solidFill>
              <a:srgbClr val="EADB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5010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&amp; Delivery Staff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523036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the production queue, dispatch out-for-delivery orders, and record face-to-face cash collections upon customer handover.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Security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3E241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Tier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Interface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HTML5, Modern CSS3, Vanilla JS (ES6+)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heavyweight frontend libraries (ultra-fast, lightweight)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responsive UI for mobile storefront &amp; desktop admin portal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Canvas / Image Lightbox receipt inspector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Client-side OTP verification &amp; status polling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C88A58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0299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Logic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runtime with Express.js REST API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Zod schema validation at trust boundaries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(JSON Web Token) + Bcrypt security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Multer &amp; Supabase Storage for receipt uploads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PDFKit server-side streaming PDF generator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concurrency control with atomic transactions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Tier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20299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Layer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83880" y="24231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Supabase PostgreSQL Relational Database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Connected via server-side 'pg' connection pooling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Environment variable isolation (dotenv)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database credentials exposed to browser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Foreign keys, strict ENUMs, and index optimization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normalization adhering to 3NF standards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DATABASE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Modeling &amp; Normalization (3NF)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 Structure &amp; Third Normal Form (3NF)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EAD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96596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Unnormalized (UNF)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965960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Repeated line items, mixed wholesale/retail transactions, embedded payment proofs in single order records.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0" y="1965960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Redundant customer &amp; stock data, data anomalies on order updates.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752344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BF8F4"/>
          </a:solidFill>
          <a:ln w="10160">
            <a:solidFill>
              <a:srgbClr val="EADB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843784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Normal Form (1NF)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843784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All attributes made atomic. Multi-item cart entries extracted into 'order_items' and 'walkin_sale_items'. Unique primary keys assigned.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0" y="2843784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Eliminated repeating groups; atomic item rows linked by foreign keys.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630168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EADB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2160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Normal Form (2NF)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721608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Removed partial dependencies. Product unit prices and bundle conversion attributes separated into 'products' master catalog.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0" y="3721608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Non-key attributes depend fully on the primary key, avoiding update anomalies.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4507992"/>
            <a:ext cx="10698480" cy="804672"/>
          </a:xfrm>
          <a:prstGeom prst="roundRect">
            <a:avLst>
              <a:gd name="adj" fmla="val 11364"/>
            </a:avLst>
          </a:prstGeom>
          <a:solidFill>
            <a:srgbClr val="FBF8F4"/>
          </a:solidFill>
          <a:ln w="10160">
            <a:solidFill>
              <a:srgbClr val="EADB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99432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Normal Form (3NF)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4599432"/>
            <a:ext cx="4389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Removed transitive dependencies. Payment verifications ('payments'), refund claims ('refund_requests'), and stock history ('stock_movements') isolated.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0" y="4599432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Clean 3NF relational model across 11 synchronized PostgreSQL tables.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5486400"/>
            <a:ext cx="10698480" cy="685800"/>
          </a:xfrm>
          <a:prstGeom prst="roundRect">
            <a:avLst>
              <a:gd name="adj" fmla="val 13333"/>
            </a:avLst>
          </a:prstGeom>
          <a:solidFill>
            <a:srgbClr val="3E241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Tables: products, orders, order_items, payments, refund_requests, walkin_sales, walkin_sale_items, stock_movements, order_status_history, members, bakery_settings.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IMPLEMENTED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Product Catalog &amp; Smart Dual-Unit Inventory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578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Dual-Unit Inventory Tracking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Wholesale operations sell in bundles (e.g., 20 pcs per bundle).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Retail walk-ins sell in loose pieces.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WeBake stores true inventory at the piece level and dynamically computes bundles available: Floor(stock_pieces / pieces_per_bundle).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Ensures 100% stock consistency across all channels.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2578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37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Stock Deductions &amp; Returns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210312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Stock deduction happens atomically during order verification approval via PostgreSQL row locks ('FOR UPDATE').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race conditions and overselling of the last bundle.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an approved order is cancelled, stock is restored automatically via atomic return transactions.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2578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Movement Audit Trail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38912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single inventory change is logged into 'stock_movements'.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Reasons tracked: APPROVAL_DEDUCTION, CANCELLATION_RETURN, POS_SALE, RESTOCK, ADJUSTMENT.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complete accountability: who changed stock, when, and for what order code.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172200" y="3840480"/>
            <a:ext cx="52578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0233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Low-Stock Alerts &amp; Dashboard Badges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389120"/>
            <a:ext cx="4709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query flags any item falling below its threshold.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dashboard immediately highlights items needing production.</a:t>
            </a:r>
            <a:endParaRPr lang="en-US" sz="98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8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status pills: In Stock (green), Low Stock (amber), Out of Stock (red) to keep bakers proactive.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IMPLEMENTED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Customer Ordering &amp; Downpayment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069848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276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Lifecycle State Machine:  PUV  →  CONFIRMED  →  IN PRODUCTION  →  OUT FOR DELIVERY  →  COMPLETED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4231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3E241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23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OTP-Protected Checkout Flow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configures bundles, delivery schedule, and address.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Verification OTP is sent and checked first.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is only committed upon clicking 'Confirm 50% Payment', preventing unconfirmed orphan orders.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228600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4231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3E241B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423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Downpayment Policy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30175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display of bakery GCash &amp; Maya QR codes and account details.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uploads payment receipt screenshot &amp; reference number.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enters 'Payment Under Verification' (PUV) awaiting admin audit.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228600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4231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3E241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423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Proof Verification Queue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0175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inspects receipt proof using fullscreen lightbox zoom.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Option to Approve (deducts stock, sends confirmation email) or Reject (with standardized dropdown reason &amp; 1 resubmission allowance).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23960" y="228600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2423160"/>
            <a:ext cx="2331720" cy="457200"/>
          </a:xfrm>
          <a:prstGeom prst="roundRect">
            <a:avLst>
              <a:gd name="adj" fmla="val 20000"/>
            </a:avLst>
          </a:prstGeom>
          <a:solidFill>
            <a:srgbClr val="3E241B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0" y="24231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Balance Collection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006840" y="3017520"/>
            <a:ext cx="2240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50% remaining balance is paid face-to-face during handover.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inputs exact cash amount collected, updating order status to 'Fully Paid' and closing the transaction safely.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IMPLEMENTED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Walk-In Point of Sale (POS) Cashiering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621792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Cashiering Capabilities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56692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High-Speed Product Selection: 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Cashier can switch between piece and bundle purchasing with a single click.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Stock Verification: 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Out-of-stock items are visually disabled; live counter piece availability is displayed real-time.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Tender &amp; Change Calculator: 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arithmetic calculates exact change due, eliminating cashier mental math errors.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Inventory Decrement: 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sales immediately decrement the master PostgreSQL stock, ensuring physical counter sales never conflict with online bookings.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Thermal Receipt Printing: 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modal receipt ready for instant printing upon completing transaction.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1554480"/>
            <a:ext cx="42976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POS Transaction Logging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20299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in 'walkin_sales' and 'walkin_sale_items' with exact piece/bundle breakdown for audit compliance.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32320" y="3063240"/>
            <a:ext cx="42976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227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Interference with Online Orders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353872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sales are tracked in their own revenue stream while drawing from the unified stock pool.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0" y="4572000"/>
            <a:ext cx="42976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4736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 Readiness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50474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bakery owner to balance counter drawer cash with recorded walk-in gross at shift close.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IMPLEMENTED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4: Admin Dashboard &amp; Financial Reconciliation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Sales (Combined)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Cash In Hand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2212848"/>
            <a:ext cx="3108960" cy="320040"/>
          </a:xfrm>
          <a:prstGeom prst="roundRect">
            <a:avLst>
              <a:gd name="adj" fmla="val 14286"/>
            </a:avLst>
          </a:prstGeom>
          <a:solidFill>
            <a:srgbClr val="FBF8F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Downpayment + Walk-in + Balances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the true daily intake across all streams minus any approved refunds.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Sales (Downpayment)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26280" y="1938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Online Collections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26280" y="2212848"/>
            <a:ext cx="3108960" cy="320040"/>
          </a:xfrm>
          <a:prstGeom prst="roundRect">
            <a:avLst>
              <a:gd name="adj" fmla="val 14286"/>
            </a:avLst>
          </a:prstGeom>
          <a:solidFill>
            <a:srgbClr val="FBF8F4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E-Wallet Transfers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606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downpayment funds verified today; face-to-face balance collections are never mixed in.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55280" y="15544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691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Sales Today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38160" y="1938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POS Cash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138160" y="2212848"/>
            <a:ext cx="3108960" cy="320040"/>
          </a:xfrm>
          <a:prstGeom prst="roundRect">
            <a:avLst>
              <a:gd name="adj" fmla="val 14286"/>
            </a:avLst>
          </a:prstGeom>
          <a:solidFill>
            <a:srgbClr val="FBF8F4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0" y="2240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Collections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2606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physical drawer cash taken in at the physical bakery counter.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Collected Payment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4224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Balance Intake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14400" y="4498848"/>
            <a:ext cx="3108960" cy="320040"/>
          </a:xfrm>
          <a:prstGeom prst="roundRect">
            <a:avLst>
              <a:gd name="adj" fmla="val 14286"/>
            </a:avLst>
          </a:prstGeom>
          <a:solidFill>
            <a:srgbClr val="FBF8F4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526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Handover Cash Recorded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4892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balances collected face-to-face upon delivering confirmed wholesale orders.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43400" y="38404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Collections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26280" y="4224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 Receivables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26280" y="4498848"/>
            <a:ext cx="3108960" cy="320040"/>
          </a:xfrm>
          <a:prstGeom prst="roundRect">
            <a:avLst>
              <a:gd name="adj" fmla="val 14286"/>
            </a:avLst>
          </a:prstGeom>
          <a:solidFill>
            <a:srgbClr val="FBF8F4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4526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Balances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26280" y="4892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remaining balances on active orders still in production or out for delivery.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55280" y="3840480"/>
            <a:ext cx="347472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/ Refund Reasons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38160" y="422452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Governance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138160" y="4498848"/>
            <a:ext cx="3108960" cy="320040"/>
          </a:xfrm>
          <a:prstGeom prst="roundRect">
            <a:avLst>
              <a:gd name="adj" fmla="val 14286"/>
            </a:avLst>
          </a:prstGeom>
          <a:solidFill>
            <a:srgbClr val="FBF8F4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5262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Dropdowns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38160" y="48920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 arbitrary text; users &amp; admins select from validated dispute reason categories.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IMPLEMENTED MODULES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5: Sales Analytics &amp; Automated PDF Reporting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Multi-Period Sales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Daily, Weekly &amp; Monthly Periods: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calendar filtering allows owner to view performance by day, week (Mon–Sun), or month.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Asia/Manila Timezone Synchronization: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queries strictly anchored to Philippine Standard Time (UTC+8), ensuring evening orders are correctly accounted for.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Sales Breakdown Table: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bundles sold, pieces sold, total gross revenue, and percentage share of total bakery sales.
</a:t>
            </a:r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Channel Summaries: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comparison between Online Orders vs Walk-In POS counter throughput.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12080" cy="448056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PDF Report Generation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PDFKit Direct Stream Engine: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are compiled on the fly in backend memory and streamed as downloadable binary blobs.
</a:t>
            </a:r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Source of Truth: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same database query feeds both the screen table and the PDF export, guaranteeing 0% discrepancy.
</a:t>
            </a:r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Formal Financial Statement Layout: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bakery letterhead, generated timestamp, summary breakdown (gross, collected, refunded, net), and per-product sales matrix.
</a:t>
            </a:r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Archival &amp; Tax Readiness:
</a:t>
            </a:r>
            <a:pPr indent="0" marL="0"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files are ready for official printing or financial auditing.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PROJECT PROGRESS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Summary &amp; Completion Status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08760"/>
          <a:ext cx="10698480" cy="4389120"/>
        </p:xfrm>
        <a:graphic>
          <a:graphicData uri="http://schemas.openxmlformats.org/drawingml/2006/table">
            <a:tbl>
              <a:tblPr/>
              <a:tblGrid>
                <a:gridCol w="3108960"/>
                <a:gridCol w="576072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Component / Module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4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Deliverables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4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Status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41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 Modeling &amp; Migration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PostgreSQL tables, 3NF schema, constraints, migrations, seed data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REST API Services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 endpoints, parallel SQL aggregation, PDFKit reports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Security, Auth &amp; Validation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tokens, Bcrypt hashing, Zod schemas, secret isolation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Dual-Unit Inventory Logic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Bundle-to-piece conversions, atomic deductions, stock movement logs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Walk-In POS Module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counter cashiering, change calculation, stock sync, instant receipt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D6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 Operations &amp; Orders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 lightbox, balance collection, status board, reason dropdowns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Storefront &amp; Tracking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 browsing, OTP checkout, 50% deposit flow, tracking timeline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Comprehensive System Testing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tests, concurrency checks, timezone auditing, receipt proofs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453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 Complete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DB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Project Completion: 96%  |  System is fully operational in integrated staging environment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CHALLENGES &amp; RESOLUTIONS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Challenges Encountered &amp;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1: Concurrency &amp; Stock Overselling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Issue: Simultaneous customer orders could potentially reserve the same last bundle before approval.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Resolution: Implemented pessimistic row locking ('SELECT ... FOR UPDATE') on product rows within PostgreSQL transactions. Inventory deduction only commits atomically upon admin approval.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004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2: Timezone Mismatches in Daily Reports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5021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Issue: Standard UTC dates caused sales made late in the evening (Asia/Manila UTC+8) to fall into the wrong reporting day.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Resolution: Explicitly anchored all SQL aggregation queries with 'AT TIME ZONE Asia/Manila' and aligned frontend date pickers with localized Manila calendar anchors.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091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3: Financial Reconciliation Ambiguity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50109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Issue: Delivery balances were previously lumped into online sales, obscuring true face-to-face cash collections.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1005840" y="5349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Resolution: Separated verified downpayments from recorded balance payments. Added a dedicated 'Collected Payment' card and distinguished pending receivables.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ROADMAP &amp; NEXT STEPS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24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Roadmap Towards Final Defense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EAD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Web-based Sales and Inventory System | Crumbs N' Roll Bakery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3E241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UAT &amp; Feedback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 – 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User Acceptance Testing with Crumbs N' Roll bakery staff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Validate counter POS speed during peak morning baking hours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Refine responsive layout on tablet/mobile screens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C88A58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Cloud Deployment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0299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5 – 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Deploy frontend storefront to Vercel production edge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Finalize backend API deployment on Render / Cloud host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Verify production Supabase connection pooling and SSL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474720" cy="44805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7373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7373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Final Defense Prep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38160" y="2029968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2E8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 – 12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183880" y="24688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Compile complete 3NF Normalization &amp; ERD technical documentation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Prepare live demonstration script showing CRUD &amp; transactions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2D1E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Final oral defense presentation rehearsal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2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PROGRESS REPORT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8745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WeBake: Ready for Final Stage Deployment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25400">
            <a:solidFill>
              <a:srgbClr val="C88A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017520"/>
            <a:ext cx="10332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Achievements: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E2D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implemented relational 3NF database connected securely to Supabase PostgreSQL.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E2D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dual-channel operations: Online Wholesale Ordering + In-Store Walk-in POS.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E2D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Accurate financial control with 50% downpayment verification and delivery balance tracking.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E2D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Robust server-side PDF reporting aligned to local Philippine business requirements.
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88A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We welcome questions, feedback, and demonstration inquiries.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2026-10-13T00:45:45Z</dcterms:created>
  <dcterms:modified xsi:type="dcterms:W3CDTF">2026-10-13T00:45:45Z</dcterms:modified>
</cp:coreProperties>
</file>